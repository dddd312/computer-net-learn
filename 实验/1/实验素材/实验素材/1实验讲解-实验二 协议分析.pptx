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14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261A200-F99F-4A89-BC6C-4677EF780A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yunbiz.wps.cn/c/collect/cdjuVy3Bex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计算机网络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实验二 网络协议分析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WireShark(Ethereal)</a:t>
            </a: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r>
              <a:rPr lang="en-US" altLang="zh-CN" sz="2400" dirty="0" err="1"/>
              <a:t>wireshark</a:t>
            </a:r>
            <a:r>
              <a:rPr lang="zh-CN" altLang="en-US" sz="2400" dirty="0"/>
              <a:t>是非常流行的网络封包分析软件，功能十分强大。可以截取各种网络封包，显示网络封包的详细信息。 </a:t>
            </a:r>
            <a:endParaRPr lang="zh-CN" altLang="en-US" sz="2400" dirty="0"/>
          </a:p>
          <a:p>
            <a:r>
              <a:rPr lang="en-US" altLang="zh-CN" sz="2400" dirty="0" err="1"/>
              <a:t>wireshark</a:t>
            </a:r>
            <a:r>
              <a:rPr lang="zh-CN" altLang="en-US" sz="2400" dirty="0"/>
              <a:t>只能查看封包，而不能修改封包的内容，或者发送封包。 </a:t>
            </a:r>
            <a:endParaRPr lang="zh-CN" altLang="en-US" sz="2400" dirty="0"/>
          </a:p>
          <a:p>
            <a:r>
              <a:rPr lang="en-US" altLang="zh-CN" sz="2400" dirty="0" err="1"/>
              <a:t>wireshark</a:t>
            </a:r>
            <a:r>
              <a:rPr lang="zh-CN" altLang="en-US" sz="2400" dirty="0"/>
              <a:t>能获取</a:t>
            </a:r>
            <a:r>
              <a:rPr lang="en-US" altLang="zh-CN" sz="2400" dirty="0"/>
              <a:t>HTTP</a:t>
            </a:r>
            <a:r>
              <a:rPr lang="zh-CN" altLang="en-US" sz="2400" dirty="0"/>
              <a:t>，也能获取</a:t>
            </a:r>
            <a:r>
              <a:rPr lang="en-US" altLang="zh-CN" sz="2400" dirty="0"/>
              <a:t>HTTPS</a:t>
            </a:r>
            <a:r>
              <a:rPr lang="zh-CN" altLang="en-US" sz="2400" dirty="0"/>
              <a:t>，但是不能解密</a:t>
            </a:r>
            <a:r>
              <a:rPr lang="en-US" altLang="zh-CN" sz="2400" dirty="0"/>
              <a:t>HTTPS</a:t>
            </a:r>
            <a:r>
              <a:rPr lang="zh-CN" altLang="en-US" sz="2400" dirty="0"/>
              <a:t>，所以</a:t>
            </a:r>
            <a:r>
              <a:rPr lang="en-US" altLang="zh-CN" sz="2400" dirty="0" err="1"/>
              <a:t>wireshark</a:t>
            </a:r>
            <a:r>
              <a:rPr lang="zh-CN" altLang="en-US" sz="2400" dirty="0"/>
              <a:t>看不懂</a:t>
            </a:r>
            <a:r>
              <a:rPr lang="en-US" altLang="zh-CN" sz="2400" dirty="0"/>
              <a:t>HTTPS</a:t>
            </a:r>
            <a:r>
              <a:rPr lang="zh-CN" altLang="en-US" sz="2400" dirty="0"/>
              <a:t>中的内容 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r>
              <a:rPr lang="zh-CN" altLang="en-US" sz="2400" dirty="0"/>
              <a:t>其他工具：</a:t>
            </a:r>
            <a:r>
              <a:rPr lang="en-US" altLang="zh-CN" sz="2400" dirty="0"/>
              <a:t>sniffer</a:t>
            </a:r>
            <a:r>
              <a:rPr lang="zh-CN" altLang="en-US" sz="2400" dirty="0"/>
              <a:t>，</a:t>
            </a:r>
            <a:r>
              <a:rPr lang="en-US" altLang="zh-CN" sz="2400" dirty="0"/>
              <a:t>Fiddler</a:t>
            </a:r>
            <a:r>
              <a:rPr lang="zh-CN" altLang="en-US" sz="2400" dirty="0"/>
              <a:t>，</a:t>
            </a:r>
            <a:r>
              <a:rPr lang="en-US" altLang="zh-CN" sz="2400" dirty="0"/>
              <a:t>network monitor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WireShark(Ethereal)</a:t>
            </a:r>
            <a:endParaRPr lang="en-US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用途</a:t>
            </a:r>
            <a:endParaRPr lang="zh-CN" altLang="en-US" sz="28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网络管理员会使用</a:t>
            </a:r>
            <a:r>
              <a:rPr lang="en-US" altLang="zh-CN" sz="2400" dirty="0" err="1"/>
              <a:t>wireshark</a:t>
            </a:r>
            <a:r>
              <a:rPr lang="zh-CN" altLang="en-US" sz="2400" dirty="0"/>
              <a:t>来检查网络问题</a:t>
            </a:r>
            <a:endParaRPr lang="zh-CN" altLang="en-US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软件测试工程师使用</a:t>
            </a:r>
            <a:r>
              <a:rPr lang="en-US" altLang="zh-CN" sz="2400" dirty="0" err="1"/>
              <a:t>wireshark</a:t>
            </a:r>
            <a:r>
              <a:rPr lang="zh-CN" altLang="en-US" sz="2400" dirty="0"/>
              <a:t>抓包，来分析自己测试的软件</a:t>
            </a:r>
            <a:endParaRPr lang="zh-CN" altLang="en-US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从事</a:t>
            </a:r>
            <a:r>
              <a:rPr lang="en-US" altLang="zh-CN" sz="2400" dirty="0"/>
              <a:t>socket</a:t>
            </a:r>
            <a:r>
              <a:rPr lang="zh-CN" altLang="en-US" sz="2400" dirty="0"/>
              <a:t>编程的工程师会用</a:t>
            </a:r>
            <a:r>
              <a:rPr lang="en-US" altLang="zh-CN" sz="2400" dirty="0" err="1"/>
              <a:t>wireshark</a:t>
            </a:r>
            <a:r>
              <a:rPr lang="zh-CN" altLang="en-US" sz="2400" dirty="0"/>
              <a:t>来调试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pic>
        <p:nvPicPr>
          <p:cNvPr id="12293" name="Picture 5" descr="2012100608483858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55576" y="1220788"/>
            <a:ext cx="8020050" cy="5637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/>
              <a:t>wireshark</a:t>
            </a:r>
            <a:r>
              <a:rPr lang="zh-CN" altLang="en-US" sz="2400" dirty="0"/>
              <a:t>是捕获机器上的某一块网卡的网络包，当你的机器上有多块网卡的时候，你需要选择一个网卡。</a:t>
            </a:r>
            <a:endParaRPr lang="zh-CN" altLang="en-US" sz="2400" dirty="0"/>
          </a:p>
          <a:p>
            <a:r>
              <a:rPr lang="zh-CN" altLang="en-US" sz="2400" dirty="0"/>
              <a:t>点击</a:t>
            </a:r>
            <a:r>
              <a:rPr lang="en-US" altLang="zh-CN" sz="2400" dirty="0" err="1"/>
              <a:t>Caputre</a:t>
            </a:r>
            <a:r>
              <a:rPr lang="en-US" altLang="zh-CN" sz="2400" dirty="0"/>
              <a:t>-&gt;Interfaces.. </a:t>
            </a:r>
            <a:r>
              <a:rPr lang="zh-CN" altLang="en-US" sz="2400" dirty="0"/>
              <a:t>出现下面对话框，选择正确的网卡。然后点击</a:t>
            </a:r>
            <a:r>
              <a:rPr lang="en-US" altLang="zh-CN" sz="2400" dirty="0"/>
              <a:t>"Start"</a:t>
            </a:r>
            <a:r>
              <a:rPr lang="zh-CN" altLang="en-US" sz="2400" dirty="0"/>
              <a:t>按钮</a:t>
            </a:r>
            <a:r>
              <a:rPr lang="en-US" altLang="zh-CN" sz="2400" dirty="0"/>
              <a:t>, </a:t>
            </a:r>
            <a:r>
              <a:rPr lang="zh-CN" altLang="en-US" sz="2400" dirty="0"/>
              <a:t>开始抓包</a:t>
            </a:r>
            <a:endParaRPr lang="zh-CN" altLang="en-US" sz="2400" dirty="0"/>
          </a:p>
        </p:txBody>
      </p:sp>
      <p:pic>
        <p:nvPicPr>
          <p:cNvPr id="13316" name="Picture 4" descr="201210060849428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00212" y="3573016"/>
            <a:ext cx="5743575" cy="2447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51309"/>
            <a:ext cx="8229600" cy="4525963"/>
          </a:xfrm>
        </p:spPr>
        <p:txBody>
          <a:bodyPr/>
          <a:lstStyle/>
          <a:p>
            <a:r>
              <a:rPr lang="en-US" altLang="zh-CN" dirty="0" err="1"/>
              <a:t>WireShark</a:t>
            </a:r>
            <a:r>
              <a:rPr lang="zh-CN" altLang="en-US" dirty="0"/>
              <a:t>窗口</a:t>
            </a:r>
            <a:endParaRPr lang="zh-CN" altLang="en-US" dirty="0"/>
          </a:p>
        </p:txBody>
      </p:sp>
      <p:pic>
        <p:nvPicPr>
          <p:cNvPr id="14343" name="Picture 7" descr="2012100609122040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" y="2060848"/>
            <a:ext cx="8153400" cy="4565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/>
              <a:t>Display </a:t>
            </a:r>
            <a:r>
              <a:rPr lang="en-US" altLang="zh-CN" sz="2800" dirty="0"/>
              <a:t>Filter(</a:t>
            </a:r>
            <a:r>
              <a:rPr lang="zh-CN" altLang="en-US" sz="2800" dirty="0"/>
              <a:t>显示过滤器</a:t>
            </a:r>
            <a:r>
              <a:rPr lang="en-US" altLang="zh-CN" sz="2800" dirty="0"/>
              <a:t>)</a:t>
            </a:r>
            <a:r>
              <a:rPr lang="zh-CN" altLang="en-US" sz="2800" dirty="0"/>
              <a:t>，</a:t>
            </a:r>
            <a:r>
              <a:rPr lang="zh-CN" altLang="en-US" sz="2800" dirty="0">
                <a:latin typeface="Arial" panose="020B0604020202020204"/>
              </a:rPr>
              <a:t> </a:t>
            </a:r>
            <a:r>
              <a:rPr lang="zh-CN" altLang="en-US" sz="2800" dirty="0"/>
              <a:t> 用于过滤</a:t>
            </a:r>
            <a:endParaRPr lang="zh-CN" alt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/>
              <a:t>Packet </a:t>
            </a:r>
            <a:r>
              <a:rPr lang="en-US" altLang="zh-CN" sz="2800" dirty="0"/>
              <a:t>List Pane(</a:t>
            </a:r>
            <a:r>
              <a:rPr lang="zh-CN" altLang="en-US" sz="2800" dirty="0"/>
              <a:t>封包列表</a:t>
            </a:r>
            <a:r>
              <a:rPr lang="en-US" altLang="zh-CN" sz="2800" dirty="0"/>
              <a:t>)</a:t>
            </a:r>
            <a:r>
              <a:rPr lang="zh-CN" altLang="en-US" sz="2800" dirty="0"/>
              <a:t>， 显示捕获到的封包， 有源地址和目标地址，端口号。</a:t>
            </a:r>
            <a:endParaRPr lang="zh-CN" alt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/>
              <a:t>Packet </a:t>
            </a:r>
            <a:r>
              <a:rPr lang="en-US" altLang="zh-CN" sz="2800" dirty="0"/>
              <a:t>Details Pane(</a:t>
            </a:r>
            <a:r>
              <a:rPr lang="zh-CN" altLang="en-US" sz="2800" dirty="0"/>
              <a:t>封包详细信息</a:t>
            </a:r>
            <a:r>
              <a:rPr lang="en-US" altLang="zh-CN" sz="2800" dirty="0"/>
              <a:t>), </a:t>
            </a:r>
            <a:r>
              <a:rPr lang="zh-CN" altLang="en-US" sz="2800" dirty="0"/>
              <a:t>显示封包中的字段</a:t>
            </a:r>
            <a:endParaRPr lang="zh-CN" alt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/>
              <a:t>Dissector </a:t>
            </a:r>
            <a:r>
              <a:rPr lang="en-US" altLang="zh-CN" sz="2800" dirty="0"/>
              <a:t>Pane(16</a:t>
            </a:r>
            <a:r>
              <a:rPr lang="zh-CN" altLang="en-US" sz="2800" dirty="0"/>
              <a:t>进制数据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err="1" smtClean="0"/>
              <a:t>Miscellanous</a:t>
            </a:r>
            <a:r>
              <a:rPr lang="en-US" altLang="zh-CN" sz="2800" dirty="0"/>
              <a:t>(</a:t>
            </a:r>
            <a:r>
              <a:rPr lang="zh-CN" altLang="en-US" sz="2800" dirty="0"/>
              <a:t>地址栏，杂项</a:t>
            </a:r>
            <a:r>
              <a:rPr lang="en-US" altLang="zh-CN" sz="2800" dirty="0"/>
              <a:t>)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显示过滤</a:t>
            </a:r>
            <a:endParaRPr lang="zh-CN" altLang="en-US" sz="2800" dirty="0"/>
          </a:p>
          <a:p>
            <a:endParaRPr lang="zh-CN" altLang="en-US" sz="2800" dirty="0"/>
          </a:p>
          <a:p>
            <a:pPr lvl="1"/>
            <a:endParaRPr lang="zh-CN" altLang="en-US" sz="2400" dirty="0"/>
          </a:p>
          <a:p>
            <a:pPr lvl="1"/>
            <a:r>
              <a:rPr lang="zh-CN" altLang="en-US" sz="2400" dirty="0"/>
              <a:t>过滤器会帮助我们在大量的数据中迅速找到我们需要的信息。</a:t>
            </a:r>
            <a:endParaRPr lang="zh-CN" altLang="en-US" sz="2400" dirty="0"/>
          </a:p>
          <a:p>
            <a:pPr lvl="1"/>
            <a:r>
              <a:rPr lang="zh-CN" altLang="en-US" sz="2400" dirty="0"/>
              <a:t>过滤器有两种，</a:t>
            </a:r>
            <a:endParaRPr lang="zh-CN" altLang="en-US" sz="2400" dirty="0"/>
          </a:p>
          <a:p>
            <a:pPr lvl="2"/>
            <a:r>
              <a:rPr lang="zh-CN" altLang="en-US" sz="2000" dirty="0"/>
              <a:t>一种是显示过滤器，就是主界面上那个，用来在捕获的记录中找到所需要的记录</a:t>
            </a:r>
            <a:endParaRPr lang="zh-CN" altLang="en-US" sz="2000" dirty="0"/>
          </a:p>
          <a:p>
            <a:pPr lvl="2"/>
            <a:r>
              <a:rPr lang="zh-CN" altLang="en-US" sz="2000" dirty="0"/>
              <a:t>一种是捕获过滤器，用来过滤捕获的封包，以免捕获太多的记录。 在</a:t>
            </a:r>
            <a:r>
              <a:rPr lang="en-US" altLang="zh-CN" sz="2000" dirty="0"/>
              <a:t>Capture -&gt; Capture Filters </a:t>
            </a:r>
            <a:r>
              <a:rPr lang="zh-CN" altLang="en-US" sz="2000" dirty="0"/>
              <a:t>中设置</a:t>
            </a:r>
            <a:endParaRPr lang="zh-CN" altLang="en-US" sz="2000" dirty="0"/>
          </a:p>
        </p:txBody>
      </p:sp>
      <p:pic>
        <p:nvPicPr>
          <p:cNvPr id="16389" name="Picture 5" descr="2012100617113979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2950" y="2543175"/>
            <a:ext cx="6191250" cy="352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保存过滤</a:t>
            </a:r>
            <a:endParaRPr lang="zh-CN" altLang="en-US" sz="28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在</a:t>
            </a:r>
            <a:r>
              <a:rPr lang="en-US" altLang="zh-CN" sz="2800" dirty="0"/>
              <a:t>Filter</a:t>
            </a:r>
            <a:r>
              <a:rPr lang="zh-CN" altLang="en-US" sz="2800" dirty="0"/>
              <a:t>栏上，填好</a:t>
            </a:r>
            <a:r>
              <a:rPr lang="en-US" altLang="zh-CN" sz="2800" dirty="0"/>
              <a:t>Filter</a:t>
            </a:r>
            <a:r>
              <a:rPr lang="zh-CN" altLang="en-US" sz="2800" dirty="0"/>
              <a:t>的表达式后，点击</a:t>
            </a:r>
            <a:r>
              <a:rPr lang="en-US" altLang="zh-CN" sz="2800" dirty="0"/>
              <a:t>Save</a:t>
            </a:r>
            <a:r>
              <a:rPr lang="zh-CN" altLang="en-US" sz="2800" dirty="0"/>
              <a:t>按钮， 取个名字。比如</a:t>
            </a:r>
            <a:r>
              <a:rPr lang="en-US" altLang="zh-CN" sz="2800" dirty="0"/>
              <a:t>"Filter 102", 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 smtClean="0"/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Filter</a:t>
            </a:r>
            <a:r>
              <a:rPr lang="zh-CN" altLang="en-US" sz="2800" dirty="0"/>
              <a:t>栏上就多了个</a:t>
            </a:r>
            <a:r>
              <a:rPr lang="en-US" altLang="zh-CN" sz="2800" dirty="0"/>
              <a:t>"Filter 102" </a:t>
            </a:r>
            <a:r>
              <a:rPr lang="zh-CN" altLang="en-US" sz="2800" dirty="0"/>
              <a:t>的按钮。 </a:t>
            </a:r>
            <a:endParaRPr lang="zh-CN" altLang="en-US" sz="2800" dirty="0"/>
          </a:p>
        </p:txBody>
      </p:sp>
      <p:pic>
        <p:nvPicPr>
          <p:cNvPr id="17413" name="Picture 5" descr="201210061714474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3190875"/>
            <a:ext cx="6124575" cy="1228725"/>
          </a:xfrm>
          <a:prstGeom prst="rect">
            <a:avLst/>
          </a:prstGeom>
          <a:noFill/>
        </p:spPr>
      </p:pic>
      <p:pic>
        <p:nvPicPr>
          <p:cNvPr id="17415" name="Picture 7" descr="201210061715558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5105400"/>
            <a:ext cx="7696200" cy="419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2880" y="1340768"/>
            <a:ext cx="8229600" cy="5105400"/>
          </a:xfrm>
        </p:spPr>
        <p:txBody>
          <a:bodyPr/>
          <a:lstStyle/>
          <a:p>
            <a:r>
              <a:rPr lang="zh-CN" altLang="en-US" sz="2400" b="1" dirty="0"/>
              <a:t>过滤表达式的规则</a:t>
            </a:r>
            <a:endParaRPr lang="zh-CN" altLang="en-US" sz="2600" dirty="0"/>
          </a:p>
          <a:p>
            <a:pPr lvl="1"/>
            <a:r>
              <a:rPr lang="zh-CN" altLang="en-US" sz="2200" dirty="0">
                <a:latin typeface="Arial" panose="020B0604020202020204"/>
              </a:rPr>
              <a:t> </a:t>
            </a:r>
            <a:r>
              <a:rPr lang="en-US" altLang="zh-CN" sz="2200" dirty="0"/>
              <a:t>1. </a:t>
            </a:r>
            <a:r>
              <a:rPr lang="zh-CN" altLang="en-US" sz="2200" dirty="0"/>
              <a:t>协议过滤</a:t>
            </a:r>
            <a:endParaRPr lang="zh-CN" altLang="en-US" sz="2200" dirty="0"/>
          </a:p>
          <a:p>
            <a:pPr lvl="1">
              <a:buFontTx/>
              <a:buNone/>
            </a:pPr>
            <a:r>
              <a:rPr lang="zh-CN" altLang="en-US" sz="2200" dirty="0"/>
              <a:t>   比如</a:t>
            </a:r>
            <a:r>
              <a:rPr lang="en-US" altLang="zh-CN" sz="2200" dirty="0"/>
              <a:t>TCP</a:t>
            </a:r>
            <a:r>
              <a:rPr lang="zh-CN" altLang="en-US" sz="2200" dirty="0"/>
              <a:t>，只显示</a:t>
            </a:r>
            <a:r>
              <a:rPr lang="en-US" altLang="zh-CN" sz="2200" dirty="0"/>
              <a:t>TCP</a:t>
            </a:r>
            <a:r>
              <a:rPr lang="zh-CN" altLang="en-US" sz="2200" dirty="0"/>
              <a:t>协议。</a:t>
            </a:r>
            <a:endParaRPr lang="zh-CN" altLang="en-US" sz="2200" dirty="0"/>
          </a:p>
          <a:p>
            <a:pPr lvl="1"/>
            <a:r>
              <a:rPr lang="en-US" altLang="zh-CN" sz="2200" dirty="0"/>
              <a:t>2. IP </a:t>
            </a:r>
            <a:r>
              <a:rPr lang="zh-CN" altLang="en-US" sz="2200" dirty="0"/>
              <a:t>过滤</a:t>
            </a:r>
            <a:endParaRPr lang="zh-CN" altLang="en-US" sz="2200" dirty="0"/>
          </a:p>
          <a:p>
            <a:pPr lvl="1">
              <a:buFontTx/>
              <a:buNone/>
            </a:pPr>
            <a:r>
              <a:rPr lang="zh-CN" altLang="en-US" sz="2200" dirty="0"/>
              <a:t>   比如 </a:t>
            </a:r>
            <a:r>
              <a:rPr lang="en-US" altLang="zh-CN" sz="2200" dirty="0" err="1"/>
              <a:t>ip.src</a:t>
            </a:r>
            <a:r>
              <a:rPr lang="en-US" altLang="zh-CN" sz="2200" dirty="0"/>
              <a:t> ==192.168.1.102 </a:t>
            </a:r>
            <a:r>
              <a:rPr lang="zh-CN" altLang="en-US" sz="2200" dirty="0"/>
              <a:t>显示源地址为</a:t>
            </a:r>
            <a:r>
              <a:rPr lang="en-US" altLang="zh-CN" sz="2200" dirty="0"/>
              <a:t>192.168.1.102</a:t>
            </a:r>
            <a:r>
              <a:rPr lang="zh-CN" altLang="en-US" sz="2200" dirty="0"/>
              <a:t>，</a:t>
            </a:r>
            <a:endParaRPr lang="zh-CN" altLang="en-US" sz="2200" dirty="0"/>
          </a:p>
          <a:p>
            <a:pPr lvl="1">
              <a:buFontTx/>
              <a:buNone/>
            </a:pPr>
            <a:r>
              <a:rPr lang="zh-CN" altLang="en-US" sz="2200" dirty="0"/>
              <a:t>   </a:t>
            </a:r>
            <a:r>
              <a:rPr lang="en-US" altLang="zh-CN" sz="2200" dirty="0" err="1"/>
              <a:t>ip.dst</a:t>
            </a:r>
            <a:r>
              <a:rPr lang="en-US" altLang="zh-CN" sz="2200" dirty="0"/>
              <a:t>==192.168.1.102, </a:t>
            </a:r>
            <a:r>
              <a:rPr lang="zh-CN" altLang="en-US" sz="2200" dirty="0"/>
              <a:t>目标地址为</a:t>
            </a:r>
            <a:r>
              <a:rPr lang="en-US" altLang="zh-CN" sz="2200" dirty="0"/>
              <a:t>192.168.1.102</a:t>
            </a:r>
            <a:endParaRPr lang="en-US" altLang="zh-CN" sz="2200" dirty="0"/>
          </a:p>
          <a:p>
            <a:pPr lvl="1"/>
            <a:r>
              <a:rPr lang="en-US" altLang="zh-CN" sz="2200" dirty="0"/>
              <a:t>3. </a:t>
            </a:r>
            <a:r>
              <a:rPr lang="zh-CN" altLang="en-US" sz="2200" dirty="0"/>
              <a:t>端口过滤</a:t>
            </a:r>
            <a:endParaRPr lang="zh-CN" altLang="en-US" sz="2200" dirty="0"/>
          </a:p>
          <a:p>
            <a:pPr lvl="1">
              <a:buFontTx/>
              <a:buNone/>
            </a:pPr>
            <a:r>
              <a:rPr lang="zh-CN" altLang="en-US" sz="2200" dirty="0"/>
              <a:t>   </a:t>
            </a:r>
            <a:r>
              <a:rPr lang="en-US" altLang="zh-CN" sz="2200" dirty="0" err="1"/>
              <a:t>tcp.port</a:t>
            </a:r>
            <a:r>
              <a:rPr lang="en-US" altLang="zh-CN" sz="2200" dirty="0"/>
              <a:t> ==80,</a:t>
            </a:r>
            <a:r>
              <a:rPr lang="en-US" altLang="zh-CN" sz="2200" dirty="0">
                <a:latin typeface="Arial" panose="020B0604020202020204"/>
              </a:rPr>
              <a:t> </a:t>
            </a:r>
            <a:r>
              <a:rPr lang="en-US" altLang="zh-CN" sz="2200" dirty="0"/>
              <a:t> </a:t>
            </a:r>
            <a:r>
              <a:rPr lang="zh-CN" altLang="en-US" sz="2200" dirty="0"/>
              <a:t>端口为</a:t>
            </a:r>
            <a:r>
              <a:rPr lang="en-US" altLang="zh-CN" sz="2200" dirty="0"/>
              <a:t>80</a:t>
            </a:r>
            <a:r>
              <a:rPr lang="zh-CN" altLang="en-US" sz="2200" dirty="0"/>
              <a:t>的</a:t>
            </a:r>
            <a:endParaRPr lang="zh-CN" altLang="en-US" sz="2200" dirty="0"/>
          </a:p>
          <a:p>
            <a:pPr lvl="1">
              <a:buFontTx/>
              <a:buNone/>
            </a:pPr>
            <a:r>
              <a:rPr lang="zh-CN" altLang="en-US" sz="2200" dirty="0"/>
              <a:t>   </a:t>
            </a:r>
            <a:r>
              <a:rPr lang="en-US" altLang="zh-CN" sz="2200" dirty="0" err="1"/>
              <a:t>tcp.srcport</a:t>
            </a:r>
            <a:r>
              <a:rPr lang="en-US" altLang="zh-CN" sz="2200" dirty="0"/>
              <a:t> == 80,</a:t>
            </a:r>
            <a:r>
              <a:rPr lang="en-US" altLang="zh-CN" sz="2200" dirty="0">
                <a:latin typeface="Arial" panose="020B0604020202020204"/>
              </a:rPr>
              <a:t> </a:t>
            </a:r>
            <a:r>
              <a:rPr lang="en-US" altLang="zh-CN" sz="2200" dirty="0"/>
              <a:t> </a:t>
            </a:r>
            <a:r>
              <a:rPr lang="zh-CN" altLang="en-US" sz="2200" dirty="0"/>
              <a:t>只显示</a:t>
            </a:r>
            <a:r>
              <a:rPr lang="en-US" altLang="zh-CN" sz="2200" dirty="0"/>
              <a:t>TCP</a:t>
            </a:r>
            <a:r>
              <a:rPr lang="zh-CN" altLang="en-US" sz="2200" dirty="0"/>
              <a:t>协议的愿端口为</a:t>
            </a:r>
            <a:r>
              <a:rPr lang="en-US" altLang="zh-CN" sz="2200" dirty="0"/>
              <a:t>80</a:t>
            </a:r>
            <a:r>
              <a:rPr lang="zh-CN" altLang="en-US" sz="2200" dirty="0"/>
              <a:t>的。</a:t>
            </a:r>
            <a:endParaRPr lang="zh-CN" altLang="en-US" sz="2200" dirty="0"/>
          </a:p>
          <a:p>
            <a:pPr lvl="1"/>
            <a:r>
              <a:rPr lang="en-US" altLang="zh-CN" sz="2200" dirty="0"/>
              <a:t>4. Http</a:t>
            </a:r>
            <a:r>
              <a:rPr lang="zh-CN" altLang="en-US" sz="2200" dirty="0"/>
              <a:t>模式过滤</a:t>
            </a:r>
            <a:endParaRPr lang="zh-CN" altLang="en-US" sz="2200" dirty="0"/>
          </a:p>
          <a:p>
            <a:pPr lvl="1">
              <a:buFontTx/>
              <a:buNone/>
            </a:pPr>
            <a:r>
              <a:rPr lang="zh-CN" altLang="en-US" sz="2200" dirty="0"/>
              <a:t>   </a:t>
            </a:r>
            <a:r>
              <a:rPr lang="en-US" altLang="zh-CN" sz="2200" dirty="0" err="1"/>
              <a:t>http.request.method</a:t>
            </a:r>
            <a:r>
              <a:rPr lang="en-US" altLang="zh-CN" sz="2200" dirty="0"/>
              <a:t>=="GET",</a:t>
            </a:r>
            <a:r>
              <a:rPr lang="en-US" altLang="zh-CN" sz="2200" dirty="0">
                <a:latin typeface="Arial" panose="020B0604020202020204"/>
              </a:rPr>
              <a:t>  </a:t>
            </a:r>
            <a:r>
              <a:rPr lang="en-US" altLang="zh-CN" sz="2200" dirty="0"/>
              <a:t> </a:t>
            </a:r>
            <a:r>
              <a:rPr lang="zh-CN" altLang="en-US" sz="2200" dirty="0"/>
              <a:t>只显示</a:t>
            </a:r>
            <a:r>
              <a:rPr lang="en-US" altLang="zh-CN" sz="2200" dirty="0"/>
              <a:t>HTTP GET</a:t>
            </a:r>
            <a:r>
              <a:rPr lang="zh-CN" altLang="en-US" sz="2200" dirty="0"/>
              <a:t>方法的。</a:t>
            </a:r>
            <a:endParaRPr lang="zh-CN" altLang="en-US" sz="2200" dirty="0"/>
          </a:p>
          <a:p>
            <a:pPr lvl="1"/>
            <a:r>
              <a:rPr lang="en-US" altLang="zh-CN" sz="2200" dirty="0"/>
              <a:t>5. </a:t>
            </a:r>
            <a:r>
              <a:rPr lang="zh-CN" altLang="en-US" sz="2200" dirty="0"/>
              <a:t>逻辑运算符为 </a:t>
            </a:r>
            <a:r>
              <a:rPr lang="en-US" altLang="zh-CN" sz="2200" dirty="0"/>
              <a:t>AND/ OR</a:t>
            </a:r>
            <a:endParaRPr lang="en-US" altLang="zh-CN" sz="2200" b="1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8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graphicFrame>
        <p:nvGraphicFramePr>
          <p:cNvPr id="19504" name="Group 48"/>
          <p:cNvGraphicFramePr>
            <a:graphicFrameLocks noGrp="1"/>
          </p:cNvGraphicFramePr>
          <p:nvPr>
            <p:ph idx="1"/>
          </p:nvPr>
        </p:nvGraphicFramePr>
        <p:xfrm>
          <a:off x="457200" y="2438400"/>
          <a:ext cx="8229600" cy="2433003"/>
        </p:xfrm>
        <a:graphic>
          <a:graphicData uri="http://schemas.openxmlformats.org/drawingml/2006/table">
            <a:tbl>
              <a:tblPr/>
              <a:tblGrid>
                <a:gridCol w="5867400"/>
                <a:gridCol w="2362200"/>
              </a:tblGrid>
              <a:tr h="5334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过滤表达式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F6E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用途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F6EC"/>
                    </a:solidFill>
                  </a:tcPr>
                </a:tc>
              </a:tr>
              <a:tr h="5540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http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F6E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只查看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HTTP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协议的记录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F6EC"/>
                    </a:solidFill>
                  </a:tcPr>
                </a:tc>
              </a:tr>
              <a:tr h="11985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ip.src ==192.168.1.102 or ip.dst==192.168.1.102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F6E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 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源地址或者目标地址是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black Verdana"/>
                          <a:cs typeface="black Verdana"/>
                        </a:rPr>
                        <a:t>192.168.1.102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封包列表</a:t>
            </a:r>
            <a:r>
              <a:rPr lang="en-US" altLang="zh-CN" sz="2800" b="1" dirty="0"/>
              <a:t>(Packet List Pane)</a:t>
            </a:r>
            <a:endParaRPr lang="en-US" altLang="zh-CN" sz="2800" b="1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封包列表的面板中显示，编号，时间戳，源地址，目标地址，协议，长度，以及封包信息。 你可以看到不同的协议用了不同的颜色显示。</a:t>
            </a:r>
            <a:endParaRPr lang="zh-CN" altLang="en-US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你也可以修改这些显示颜色的规则，</a:t>
            </a:r>
            <a:r>
              <a:rPr lang="zh-CN" altLang="en-US" sz="2400" dirty="0">
                <a:latin typeface="Arial" panose="020B0604020202020204"/>
              </a:rPr>
              <a:t> </a:t>
            </a:r>
            <a:r>
              <a:rPr lang="zh-CN" altLang="en-US" sz="2400" dirty="0"/>
              <a:t> </a:t>
            </a:r>
            <a:r>
              <a:rPr lang="en-US" altLang="zh-CN" sz="2400" dirty="0"/>
              <a:t>View -&gt;Coloring Rules.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pic>
        <p:nvPicPr>
          <p:cNvPr id="22533" name="Picture 5" descr="2012100622181376"/>
          <p:cNvPicPr>
            <a:picLocks noChangeAspect="1" noChangeArrowheads="1"/>
          </p:cNvPicPr>
          <p:nvPr/>
        </p:nvPicPr>
        <p:blipFill rotWithShape="1">
          <a:blip r:embed="rId1"/>
          <a:srcRect t="-1" r="1156" b="-1249"/>
          <a:stretch>
            <a:fillRect/>
          </a:stretch>
        </p:blipFill>
        <p:spPr bwMode="auto">
          <a:xfrm>
            <a:off x="180528" y="1844824"/>
            <a:ext cx="8783960" cy="3240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使用方法</a:t>
            </a:r>
            <a:endParaRPr lang="zh-CN" alt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5257800"/>
          </a:xfrm>
        </p:spPr>
        <p:txBody>
          <a:bodyPr/>
          <a:lstStyle/>
          <a:p>
            <a:r>
              <a:rPr lang="zh-CN" altLang="en-US" b="1" dirty="0"/>
              <a:t>封包详细信息 </a:t>
            </a:r>
            <a:r>
              <a:rPr lang="en-US" altLang="zh-CN" b="1" dirty="0"/>
              <a:t>(Packet Details Pane)</a:t>
            </a:r>
            <a:endParaRPr lang="en-US" altLang="zh-CN" b="1" dirty="0"/>
          </a:p>
          <a:p>
            <a:pPr lvl="1"/>
            <a:r>
              <a:rPr lang="zh-CN" altLang="en-US" dirty="0"/>
              <a:t>这个面板是我们最重要的，用来查看协议中的每一个字段。</a:t>
            </a:r>
            <a:endParaRPr lang="zh-CN" altLang="en-US" dirty="0"/>
          </a:p>
          <a:p>
            <a:pPr lvl="1"/>
            <a:r>
              <a:rPr lang="zh-CN" altLang="en-US" dirty="0"/>
              <a:t>各行信息分别为</a:t>
            </a:r>
            <a:endParaRPr lang="zh-CN" altLang="en-US" dirty="0"/>
          </a:p>
          <a:p>
            <a:pPr lvl="2"/>
            <a:r>
              <a:rPr lang="en-US" altLang="zh-CN" dirty="0"/>
              <a:t>Frame:</a:t>
            </a:r>
            <a:r>
              <a:rPr lang="en-US" altLang="zh-CN" dirty="0">
                <a:latin typeface="Arial" panose="020B0604020202020204"/>
              </a:rPr>
              <a:t>   </a:t>
            </a:r>
            <a:r>
              <a:rPr lang="zh-CN" altLang="en-US" dirty="0"/>
              <a:t>物理层的数据帧概况</a:t>
            </a:r>
            <a:endParaRPr lang="zh-CN" altLang="en-US" dirty="0"/>
          </a:p>
          <a:p>
            <a:pPr lvl="2"/>
            <a:r>
              <a:rPr lang="en-US" altLang="zh-CN" dirty="0"/>
              <a:t>Ethernet</a:t>
            </a:r>
            <a:r>
              <a:rPr lang="en-US" altLang="zh-CN" dirty="0">
                <a:latin typeface="Arial" panose="020B0604020202020204"/>
              </a:rPr>
              <a:t> </a:t>
            </a:r>
            <a:r>
              <a:rPr lang="en-US" altLang="zh-CN" dirty="0"/>
              <a:t>II:</a:t>
            </a:r>
            <a:r>
              <a:rPr lang="en-US" altLang="zh-CN" dirty="0">
                <a:latin typeface="Arial" panose="020B0604020202020204"/>
              </a:rPr>
              <a:t> </a:t>
            </a:r>
            <a:r>
              <a:rPr lang="zh-CN" altLang="en-US" dirty="0"/>
              <a:t>数据链路层以太网帧头部信息</a:t>
            </a:r>
            <a:endParaRPr lang="zh-CN" altLang="en-US" dirty="0"/>
          </a:p>
          <a:p>
            <a:pPr lvl="2"/>
            <a:r>
              <a:rPr lang="en-US" altLang="zh-CN" dirty="0"/>
              <a:t>Internet Protocol Version 4:</a:t>
            </a:r>
            <a:r>
              <a:rPr lang="en-US" altLang="zh-CN" dirty="0">
                <a:latin typeface="Arial" panose="020B0604020202020204"/>
              </a:rPr>
              <a:t> </a:t>
            </a:r>
            <a:r>
              <a:rPr lang="zh-CN" altLang="en-US" dirty="0"/>
              <a:t>互联网层</a:t>
            </a:r>
            <a:r>
              <a:rPr lang="en-US" altLang="zh-CN" dirty="0"/>
              <a:t>IP</a:t>
            </a:r>
            <a:r>
              <a:rPr lang="zh-CN" altLang="en-US" dirty="0"/>
              <a:t>包头部信息</a:t>
            </a:r>
            <a:endParaRPr lang="zh-CN" altLang="en-US" dirty="0"/>
          </a:p>
          <a:p>
            <a:pPr lvl="2"/>
            <a:r>
              <a:rPr lang="en-US" altLang="zh-CN" dirty="0"/>
              <a:t>Transmission Control Protocol:</a:t>
            </a:r>
            <a:r>
              <a:rPr lang="en-US" altLang="zh-CN" dirty="0">
                <a:latin typeface="Arial" panose="020B0604020202020204"/>
              </a:rPr>
              <a:t>  </a:t>
            </a:r>
            <a:r>
              <a:rPr lang="zh-CN" altLang="en-US" dirty="0"/>
              <a:t>传输层</a:t>
            </a:r>
            <a:r>
              <a:rPr lang="en-US" altLang="zh-CN" dirty="0"/>
              <a:t>T</a:t>
            </a:r>
            <a:r>
              <a:rPr lang="zh-CN" altLang="en-US" dirty="0"/>
              <a:t>的数据段头部信息，此处是</a:t>
            </a:r>
            <a:r>
              <a:rPr lang="en-US" altLang="zh-CN" dirty="0"/>
              <a:t>TCP</a:t>
            </a:r>
            <a:endParaRPr lang="en-US" altLang="zh-CN" dirty="0"/>
          </a:p>
          <a:p>
            <a:pPr lvl="2"/>
            <a:r>
              <a:rPr lang="en-US" altLang="zh-CN" dirty="0"/>
              <a:t>Hypertext Transfer Protocol:</a:t>
            </a:r>
            <a:r>
              <a:rPr lang="en-US" altLang="zh-CN" dirty="0">
                <a:latin typeface="Arial" panose="020B0604020202020204"/>
              </a:rPr>
              <a:t>  </a:t>
            </a:r>
            <a:r>
              <a:rPr lang="zh-CN" altLang="en-US" dirty="0"/>
              <a:t>应用层的信息，此处是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endParaRPr lang="zh-CN" altLang="zh-CN"/>
          </a:p>
        </p:txBody>
      </p:sp>
      <p:pic>
        <p:nvPicPr>
          <p:cNvPr id="24581" name="Picture 5" descr="2012100709030740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1268760"/>
            <a:ext cx="9144000" cy="50942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96544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800" dirty="0" smtClean="0"/>
              <a:t>采用</a:t>
            </a:r>
            <a:r>
              <a:rPr lang="en-US" altLang="zh-CN" sz="2800" dirty="0" smtClean="0"/>
              <a:t>Wireshark</a:t>
            </a:r>
            <a:r>
              <a:rPr lang="zh-CN" altLang="en-US" sz="2800" dirty="0" smtClean="0"/>
              <a:t>软件分析</a:t>
            </a:r>
            <a:r>
              <a:rPr lang="en-US" altLang="zh-CN" sz="2800" dirty="0" smtClean="0"/>
              <a:t>HTTP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TCP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ICMP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ARP</a:t>
            </a:r>
            <a:r>
              <a:rPr lang="zh-CN" altLang="en-US" sz="2800" dirty="0" smtClean="0"/>
              <a:t>协议，</a:t>
            </a:r>
            <a:r>
              <a:rPr lang="zh-CN" altLang="en-US" sz="2800" dirty="0" smtClean="0">
                <a:sym typeface="+mn-ea"/>
              </a:rPr>
              <a:t>记录实验步骤、回答实验问题。依据</a:t>
            </a:r>
            <a:r>
              <a:rPr lang="zh-CN" altLang="en-US" sz="2800" dirty="0" smtClean="0"/>
              <a:t>“计算</a:t>
            </a:r>
            <a:r>
              <a:rPr lang="zh-CN" altLang="en-US" sz="2800" dirty="0"/>
              <a:t>网络实验报告模板</a:t>
            </a:r>
            <a:r>
              <a:rPr lang="en-US" altLang="zh-CN" sz="2800" dirty="0"/>
              <a:t>.</a:t>
            </a:r>
            <a:r>
              <a:rPr lang="en-US" altLang="zh-CN" sz="2800" dirty="0" smtClean="0"/>
              <a:t>doc</a:t>
            </a:r>
            <a:r>
              <a:rPr lang="zh-CN" altLang="en-US" sz="2800" dirty="0"/>
              <a:t>”撰写实验报告，命名为</a:t>
            </a:r>
            <a:r>
              <a:rPr lang="zh-CN" altLang="en-US" sz="2800" dirty="0" smtClean="0">
                <a:sym typeface="+mn-ea"/>
              </a:rPr>
              <a:t>“</a:t>
            </a:r>
            <a:r>
              <a:rPr lang="zh-CN" altLang="en-US" sz="2800" dirty="0"/>
              <a:t>学号</a:t>
            </a:r>
            <a:r>
              <a:rPr lang="en-US" altLang="zh-CN" sz="2800" dirty="0"/>
              <a:t>-</a:t>
            </a:r>
            <a:r>
              <a:rPr lang="zh-CN" altLang="en-US" sz="2800" dirty="0"/>
              <a:t>姓名</a:t>
            </a:r>
            <a:r>
              <a:rPr lang="zh-CN" altLang="en-US" sz="2800" dirty="0">
                <a:sym typeface="+mn-ea"/>
              </a:rPr>
              <a:t>”形式</a:t>
            </a:r>
            <a:r>
              <a:rPr lang="zh-CN" altLang="en-US" sz="2800" dirty="0"/>
              <a:t>，并在</a:t>
            </a:r>
            <a:r>
              <a:rPr lang="en-US" altLang="zh-CN" sz="2800" dirty="0">
                <a:sym typeface="+mn-ea"/>
              </a:rPr>
              <a:t>5</a:t>
            </a:r>
            <a:r>
              <a:rPr lang="zh-CN" altLang="en-US" sz="2800" dirty="0">
                <a:sym typeface="+mn-ea"/>
              </a:rPr>
              <a:t>月</a:t>
            </a:r>
            <a:r>
              <a:rPr lang="en-US" altLang="zh-CN" sz="2800" dirty="0">
                <a:sym typeface="+mn-ea"/>
              </a:rPr>
              <a:t>27</a:t>
            </a:r>
            <a:r>
              <a:rPr lang="zh-CN" altLang="en-US" sz="2800" dirty="0">
                <a:sym typeface="+mn-ea"/>
              </a:rPr>
              <a:t>日（星期三）前</a:t>
            </a:r>
            <a:r>
              <a:rPr lang="zh-CN" altLang="en-US" sz="2800" dirty="0" smtClean="0"/>
              <a:t>提交至</a:t>
            </a:r>
            <a:r>
              <a:rPr lang="en-US" altLang="zh-CN" sz="2800" dirty="0" smtClean="0">
                <a:hlinkClick r:id="rId1" action="ppaction://hlinkfile"/>
              </a:rPr>
              <a:t>https://yunbiz.wps.cn/c/collect/cdjuVy3BexN</a:t>
            </a:r>
            <a:r>
              <a:rPr lang="en-US" altLang="zh-CN" sz="2800" dirty="0" smtClean="0"/>
              <a:t> </a:t>
            </a:r>
            <a:endParaRPr lang="en-US" altLang="zh-CN" sz="2800" dirty="0" smtClean="0"/>
          </a:p>
          <a:p>
            <a:pPr algn="just">
              <a:lnSpc>
                <a:spcPct val="11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如有雷同和涉嫌抄袭的实验报告，均判</a:t>
            </a:r>
            <a:r>
              <a:rPr lang="en-US" altLang="zh-CN" sz="2800" dirty="0">
                <a:solidFill>
                  <a:srgbClr val="C00000"/>
                </a:solidFill>
              </a:rPr>
              <a:t>0</a:t>
            </a:r>
            <a:r>
              <a:rPr lang="zh-CN" altLang="en-US" sz="2800" dirty="0" smtClean="0">
                <a:solidFill>
                  <a:srgbClr val="C00000"/>
                </a:solidFill>
              </a:rPr>
              <a:t>分！</a:t>
            </a:r>
            <a:endParaRPr lang="zh-CN" altLang="en-US" sz="2800" dirty="0" smtClean="0">
              <a:solidFill>
                <a:srgbClr val="C00000"/>
              </a:solidFill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3573145" y="4688205"/>
            <a:ext cx="539750" cy="16281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99795" y="4509135"/>
            <a:ext cx="2626360" cy="1986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en-US" altLang="zh-CN" sz="2800" dirty="0" smtClean="0">
                <a:sym typeface="+mn-ea"/>
              </a:rPr>
              <a:t>Lab1_HTTP.doc</a:t>
            </a:r>
            <a:endParaRPr lang="en-US" altLang="zh-CN" sz="2800" dirty="0"/>
          </a:p>
          <a:p>
            <a:pPr>
              <a:lnSpc>
                <a:spcPct val="110000"/>
              </a:lnSpc>
            </a:pPr>
            <a:r>
              <a:rPr lang="en-US" altLang="zh-CN" sz="2800" dirty="0" smtClean="0">
                <a:sym typeface="+mn-ea"/>
              </a:rPr>
              <a:t>Lab2_TCP.doc</a:t>
            </a:r>
            <a:endParaRPr lang="en-US" altLang="zh-CN" sz="2800" dirty="0" smtClean="0"/>
          </a:p>
          <a:p>
            <a:pPr>
              <a:lnSpc>
                <a:spcPct val="110000"/>
              </a:lnSpc>
            </a:pPr>
            <a:r>
              <a:rPr lang="en-US" altLang="zh-CN" sz="2800" dirty="0" smtClean="0">
                <a:sym typeface="+mn-ea"/>
              </a:rPr>
              <a:t>Lab3_ICMP.doc</a:t>
            </a:r>
            <a:endParaRPr lang="en-US" altLang="zh-CN" sz="2800" dirty="0" smtClean="0"/>
          </a:p>
          <a:p>
            <a:pPr>
              <a:lnSpc>
                <a:spcPct val="110000"/>
              </a:lnSpc>
            </a:pPr>
            <a:r>
              <a:rPr lang="en-US" altLang="zh-CN" sz="2800" dirty="0" smtClean="0">
                <a:sym typeface="+mn-ea"/>
              </a:rPr>
              <a:t>Lab4_ARP.doc</a:t>
            </a:r>
            <a:endParaRPr lang="en-US" altLang="zh-CN" sz="2800" dirty="0" smtClean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59885" y="5014595"/>
            <a:ext cx="4409440" cy="544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10000"/>
              </a:lnSpc>
            </a:pPr>
            <a:r>
              <a:rPr lang="zh-CN" altLang="en-US" sz="2800" dirty="0" smtClean="0">
                <a:sym typeface="+mn-ea"/>
              </a:rPr>
              <a:t>计算</a:t>
            </a:r>
            <a:r>
              <a:rPr lang="zh-CN" altLang="en-US" sz="2800" dirty="0">
                <a:sym typeface="+mn-ea"/>
              </a:rPr>
              <a:t>网络实验报告模板</a:t>
            </a:r>
            <a:r>
              <a:rPr lang="en-US" altLang="zh-CN" sz="2800" dirty="0">
                <a:sym typeface="+mn-ea"/>
              </a:rPr>
              <a:t>.</a:t>
            </a:r>
            <a:r>
              <a:rPr lang="en-US" altLang="zh-CN" sz="2800" dirty="0" smtClean="0">
                <a:sym typeface="+mn-ea"/>
              </a:rPr>
              <a:t>doc</a:t>
            </a:r>
            <a:endParaRPr lang="en-US" altLang="zh-CN" sz="2800" dirty="0" smtClean="0">
              <a:sym typeface="+mn-ea"/>
            </a:endParaRPr>
          </a:p>
          <a:p>
            <a:pPr algn="ctr">
              <a:lnSpc>
                <a:spcPct val="110000"/>
              </a:lnSpc>
            </a:pPr>
            <a:r>
              <a:rPr lang="zh-CN" altLang="en-US" sz="2800" dirty="0" smtClean="0">
                <a:sym typeface="+mn-ea"/>
              </a:rPr>
              <a:t>（网线实验也在其中）</a:t>
            </a:r>
            <a:endParaRPr lang="zh-CN" altLang="en-US" sz="2800" dirty="0" smtClean="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d679cd95-cc2e-4a48-9664-a6b1793ad026"/>
  <p:tag name="COMMONDATA" val="eyJoZGlkIjoiMGJhYWQ0YWY2YWM2ZDVlNzM3MzcxNGEyMTQ5NTUz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WPS 演示</Application>
  <PresentationFormat>全屏显示(4:3)</PresentationFormat>
  <Paragraphs>121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black Verdana</vt:lpstr>
      <vt:lpstr>Verdana</vt:lpstr>
      <vt:lpstr>Calibri</vt:lpstr>
      <vt:lpstr>微软雅黑</vt:lpstr>
      <vt:lpstr>Arial Unicode MS</vt:lpstr>
      <vt:lpstr>Office 主题</vt:lpstr>
      <vt:lpstr>计算机网络</vt:lpstr>
      <vt:lpstr>WireShark(Ethereal)</vt:lpstr>
      <vt:lpstr>WireShark(Ethereal)</vt:lpstr>
      <vt:lpstr>使用方法</vt:lpstr>
      <vt:lpstr>使用方法</vt:lpstr>
      <vt:lpstr>使用方法</vt:lpstr>
      <vt:lpstr>使用方法</vt:lpstr>
      <vt:lpstr>使用方法</vt:lpstr>
      <vt:lpstr>使用方法</vt:lpstr>
      <vt:lpstr>使用方法</vt:lpstr>
      <vt:lpstr>使用方法</vt:lpstr>
      <vt:lpstr>使用方法</vt:lpstr>
      <vt:lpstr>使用方法</vt:lpstr>
      <vt:lpstr>使用方法</vt:lpstr>
      <vt:lpstr>使用方法</vt:lpstr>
      <vt:lpstr>实验内容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 网络协议分析</dc:title>
  <dc:creator>chc</dc:creator>
  <cp:lastModifiedBy>西工大王丽</cp:lastModifiedBy>
  <cp:revision>22</cp:revision>
  <dcterms:created xsi:type="dcterms:W3CDTF">2017-05-04T01:52:00Z</dcterms:created>
  <dcterms:modified xsi:type="dcterms:W3CDTF">2026-05-06T13:02:47Z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97D2D373D7A2453AA580D06D89D30E38_12</vt:lpwstr>
  </property>
  <property fmtid="{D5CDD505-2E9C-101B-9397-08002B2CF9AE}" pid="3" name="KSOProductBuildVer">
    <vt:lpwstr>2052-12.1.0.25865</vt:lpwstr>
  </property>
</Properties>
</file>